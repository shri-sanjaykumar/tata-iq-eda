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Roboto Slab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 varScale="1">
        <p:scale>
          <a:sx n="132" d="100"/>
          <a:sy n="132" d="100"/>
        </p:scale>
        <p:origin x="94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System Works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sz="1800" b="0"/>
              <a:t>Inputs: Behavioral financial data (Credit Utilization, Recent Payment History, Debt-to-Income Ratio).</a:t>
            </a:r>
          </a:p>
          <a:p>
            <a:pPr/>
            <a:r>
              <a:rPr sz="1800" b="0"/>
              <a:t>Decision Logic: A Random Forest predictive model calculates delinquency probability and flags accounts exceeding 80% utilization with a single missed payment.</a:t>
            </a:r>
          </a:p>
          <a:p>
            <a:pPr/>
            <a:r>
              <a:rPr sz="1800" b="0"/>
              <a:t>Actions: Automated personalized outreach (SMS/Email) offering flexible repayment options before escalation.</a:t>
            </a:r>
          </a:p>
          <a:p>
            <a:pPr/>
            <a:r>
              <a:rPr sz="1800" b="0"/>
              <a:t>Learning Loop: The system monitors repayment success rates of flagged customers and updates the model monthly to refine risk thresholds.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Agentic AI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None/>
            </a:pPr>
            <a:r>
              <a:rPr sz="2000" b="1"/>
              <a:t>Autonomous Operations:</a:t>
            </a:r>
          </a:p>
          <a:p>
            <a:pPr lvl="1"/>
            <a:r>
              <a:rPr sz="1800" b="0"/>
              <a:t>Risk Scoring: Continuous calculation of delinquency probabilities based on live data.</a:t>
            </a:r>
          </a:p>
          <a:p>
            <a:pPr lvl="1"/>
            <a:r>
              <a:rPr sz="1800" b="0"/>
              <a:t>Tier 1 Outreach: Sending early intervention reminder emails/SMS.</a:t>
            </a:r>
          </a:p>
          <a:p>
            <a:pPr lvl="1"/>
            <a:r>
              <a:rPr sz="1800" b="0"/>
              <a:t>Triage: Routing high-risk or complex cases to specialized collections agents.</a:t>
            </a:r>
          </a:p>
          <a:p>
            <a:pPr/>
            <a:r>
              <a:rPr sz="2000" b="1"/>
              <a:t>Human Oversight (Human-in-the-Loop):</a:t>
            </a:r>
          </a:p>
          <a:p>
            <a:pPr lvl="1"/>
            <a:r>
              <a:rPr sz="1800" b="0"/>
              <a:t>Escalation Handling: Complex negotiations or hardship plan approvals.</a:t>
            </a:r>
          </a:p>
          <a:p>
            <a:pPr lvl="1"/>
            <a:r>
              <a:rPr sz="1800" b="0"/>
              <a:t>Model Auditing: Monthly reviews of the model's fairness and accuracy metrics.</a:t>
            </a:r>
          </a:p>
          <a:p>
            <a:pPr lvl="1"/>
            <a:r>
              <a:rPr sz="1800" b="0"/>
              <a:t>High-Value Account Decisions: Final approval before aggressive collection on large balances.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sz="1800" b="0"/>
              <a:t>Disparate Impact Monitoring: Continuous fairness checks to ensure no demographic group (Age/Location) is disproportionately penalized.</a:t>
            </a:r>
          </a:p>
          <a:p>
            <a:pPr/>
            <a:r>
              <a:rPr sz="1800" b="0"/>
              <a:t>Explainability (XAI): Model provides feature-level rationale (e.g., 'Flagged due to 90% utilization') for every prediction.</a:t>
            </a:r>
          </a:p>
          <a:p>
            <a:pPr/>
            <a:r>
              <a:rPr sz="1800" b="0"/>
              <a:t>Data Privacy &amp; Compliance: Strictly adheres to ECOA by excluding protected demographic variables from decision logic.</a:t>
            </a:r>
          </a:p>
          <a:p>
            <a:pPr/>
            <a:r>
              <a:rPr sz="1800" b="0"/>
              <a:t>Human-in-the-Loop: Critical escalation pathways mandate human agent review, ensuring AI acts as an assistant rather than final arbiter for severe actions.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sz="2000" b="1"/>
              <a:t>Business KPIs:</a:t>
            </a:r>
          </a:p>
          <a:p>
            <a:pPr lvl="1"/>
            <a:r>
              <a:rPr sz="1800" b="0"/>
              <a:t>15% reduction in 60-day delinquency rates via early intervention.</a:t>
            </a:r>
          </a:p>
          <a:p>
            <a:pPr lvl="1"/>
            <a:r>
              <a:rPr sz="1800" b="0"/>
              <a:t>Decreased operational costs by automating Tier 1 outreach.</a:t>
            </a:r>
          </a:p>
          <a:p>
            <a:pPr lvl="1"/>
            <a:r>
              <a:rPr sz="1800" b="0"/>
              <a:t>Increased total debt recovery percentage across the portfolio.</a:t>
            </a:r>
          </a:p>
          <a:p>
            <a:pPr/>
            <a:r>
              <a:rPr sz="2000" b="1"/>
              <a:t>Customer Outcomes:</a:t>
            </a:r>
          </a:p>
          <a:p>
            <a:pPr lvl="1"/>
            <a:r>
              <a:rPr sz="1800" b="0"/>
              <a:t>Improved customer trust through supportive, non-punitive initial contact.</a:t>
            </a:r>
          </a:p>
          <a:p>
            <a:pPr lvl="1"/>
            <a:r>
              <a:rPr sz="1800" b="0"/>
              <a:t>Tailored flexible repayment options preventing credit score damage.</a:t>
            </a:r>
          </a:p>
          <a:p>
            <a:pPr lvl="1"/>
            <a:r>
              <a:rPr sz="1800" b="0"/>
              <a:t>Fairer assessments completely detached from demographic biases.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473</Words>
  <Application>Microsoft Macintosh PowerPoint</Application>
  <PresentationFormat>On-screen Show (16:9)</PresentationFormat>
  <Paragraphs>36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Roboto Slab</vt:lpstr>
      <vt:lpstr>Roboto</vt:lpstr>
      <vt:lpstr>Marina</vt:lpstr>
      <vt:lpstr>AI-Powered Collections Strategy</vt:lpstr>
      <vt:lpstr>How the System Works</vt:lpstr>
      <vt:lpstr>Role of Agentic AI</vt:lpstr>
      <vt:lpstr>Responsible AI Guardrails</vt:lpstr>
      <vt:lpstr>Expected Business Impact</vt:lpstr>
      <vt:lpstr>[Feel free to add more slides throughout]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Tran, Tammy</cp:lastModifiedBy>
  <cp:revision>2</cp:revision>
  <dcterms:modified xsi:type="dcterms:W3CDTF">2025-04-29T13:27:36Z</dcterms:modified>
</cp:coreProperties>
</file>